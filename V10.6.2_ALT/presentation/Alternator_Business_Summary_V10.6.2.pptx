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45720"/>
          </a:xfrm>
          <a:prstGeom prst="rect">
            <a:avLst/>
          </a:prstGeom>
          <a:solidFill>
            <a:srgbClr val="C5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ALTERNATOR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0">
                <a:solidFill>
                  <a:srgbClr val="C58B1F"/>
                </a:solidFill>
                <a:latin typeface="Calibri"/>
              </a:defRPr>
            </a:pPr>
            <a:r>
              <a:t>From Reactive Breakdown to Data-Driven Fleet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0B8C4"/>
                </a:solidFill>
                <a:latin typeface="Calibri"/>
              </a:defRPr>
            </a:pPr>
            <a:r>
              <a:t>BharatBenz 5528T Heavy-Duty Trucks  |  25-Vehicle Study  | 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663440"/>
            <a:ext cx="2697480" cy="1005840"/>
          </a:xfrm>
          <a:prstGeom prst="roundRect">
            <a:avLst/>
          </a:prstGeom>
          <a:solidFill>
            <a:srgbClr val="15253A"/>
          </a:solidFill>
          <a:ln w="19050">
            <a:solidFill>
              <a:srgbClr val="C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3659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B0B8C4"/>
                </a:solidFill>
                <a:latin typeface="Calibri"/>
              </a:defRPr>
            </a:pPr>
            <a:r>
              <a:t>RISK DETECTION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83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C58B1F"/>
                </a:solidFill>
                <a:latin typeface="Calibri"/>
              </a:defRPr>
            </a:pPr>
            <a:r>
              <a:t>92.7%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132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7 of 10 failures flagged pre-event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4663440"/>
            <a:ext cx="2697480" cy="1005840"/>
          </a:xfrm>
          <a:prstGeom prst="roundRect">
            <a:avLst/>
          </a:prstGeom>
          <a:solidFill>
            <a:srgbClr val="15253A"/>
          </a:solidFill>
          <a:ln w="19050">
            <a:solidFill>
              <a:srgbClr val="C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473659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B0B8C4"/>
                </a:solidFill>
                <a:latin typeface="Calibri"/>
              </a:defRPr>
            </a:pPr>
            <a:r>
              <a:t>REPLACEMENT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983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C58B1F"/>
                </a:solidFill>
                <a:latin typeface="Calibri"/>
              </a:defRPr>
            </a:pPr>
            <a:r>
              <a:t>578–653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54132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~120,000 km data-driven scheduling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663440"/>
            <a:ext cx="2697480" cy="1005840"/>
          </a:xfrm>
          <a:prstGeom prst="roundRect">
            <a:avLst/>
          </a:prstGeom>
          <a:solidFill>
            <a:srgbClr val="15253A"/>
          </a:solidFill>
          <a:ln w="19050">
            <a:solidFill>
              <a:srgbClr val="C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473659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B0B8C4"/>
                </a:solidFill>
                <a:latin typeface="Calibri"/>
              </a:defRPr>
            </a:pPr>
            <a:r>
              <a:t>REAL-TIME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4983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C58B1F"/>
                </a:solidFill>
                <a:latin typeface="Calibri"/>
              </a:defRPr>
            </a:pPr>
            <a:r>
              <a:t>0 False Alarms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54132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Excitation-storm warning when possible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4663440"/>
            <a:ext cx="2697480" cy="1005840"/>
          </a:xfrm>
          <a:prstGeom prst="roundRect">
            <a:avLst/>
          </a:prstGeom>
          <a:solidFill>
            <a:srgbClr val="15253A"/>
          </a:solidFill>
          <a:ln w="19050">
            <a:solidFill>
              <a:srgbClr val="C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473659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B0B8C4"/>
                </a:solidFill>
                <a:latin typeface="Calibri"/>
              </a:defRPr>
            </a:pPr>
            <a:r>
              <a:t>FLEET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4983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C58B1F"/>
                </a:solidFill>
                <a:latin typeface="Calibri"/>
              </a:defRPr>
            </a:pPr>
            <a:r>
              <a:t>25 Trucks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54132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Every truck scored, tiered, monitored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 WE DID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Turning existing truck telemetry into actionable maintenance intelligence</a:t>
            </a:r>
          </a:p>
        </p:txBody>
      </p:sp>
      <p:pic>
        <p:nvPicPr>
          <p:cNvPr id="5" name="Picture 4" descr="valu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794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THREE LAYERS OF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60520"/>
            <a:ext cx="3474720" cy="146304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A5CB0"/>
                </a:solidFill>
                <a:latin typeface="Calibri"/>
              </a:defRPr>
            </a:pPr>
            <a:r>
              <a:t>1. RISK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526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Analyzes voltage patterns from CAN bus data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Scores each truck as GREEN / AMBER / RED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92.7% accuracy across all 25 trucks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160520"/>
            <a:ext cx="3474720" cy="146304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5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57F3D"/>
                </a:solidFill>
                <a:latin typeface="Calibri"/>
              </a:defRPr>
            </a:pPr>
            <a:r>
              <a:t>2. REPLACEMENT 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526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Statistical model of fleet failure timing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Data-driven window: 578–653 days (~120k km)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Replaces arbitrary time/km maintenance intervals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160520"/>
            <a:ext cx="3474720" cy="146304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B87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B87A0F"/>
                </a:solidFill>
                <a:latin typeface="Calibri"/>
              </a:defRPr>
            </a:pPr>
            <a:r>
              <a:t>3. REAL-TIME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526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Monitors alternator excitation signal live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Triggers on sustained disturbance storms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Zero false alarms on 15 in-service trucks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06440"/>
            <a:ext cx="11430000" cy="59436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852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6247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No new sensors needed — the system runs on existing CAN bus data already collected from the fleet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636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Each layer provides value at a different time horizon: long-term scheduling, medium-term risk, short-term alert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 WE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Validated results across 25 trucks (10 known failures + 15 in-service)</a:t>
            </a:r>
          </a:p>
        </p:txBody>
      </p:sp>
      <p:pic>
        <p:nvPicPr>
          <p:cNvPr id="5" name="Picture 4" descr="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858000" cy="2560320"/>
          </a:xfrm>
          <a:prstGeom prst="rect">
            <a:avLst/>
          </a:prstGeom>
        </p:spPr>
      </p:pic>
      <p:pic>
        <p:nvPicPr>
          <p:cNvPr id="6" name="Picture 5" descr="fleet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51560"/>
            <a:ext cx="4572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7490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HEADLINE 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06908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029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Business Impact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Risk classification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92.7% accuracy (9/10 failures caught)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Prioritize inspections by risk, not guesswork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Replacement window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578–653 day window (~120,000 km)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Replace data on fleet schedule, not after breakdown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Real-time alert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 alert with 3-week lead, 0 false alarms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Catch excitation failures before roadside event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Fleet visibility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14 LOW / 3 WATCH / 1 HIGH risk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Focus resources on the 1 high-risk truck first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Current fleet action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VIN3_NF flagged as priority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Recommend immediate inspection for this truck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5989320"/>
            <a:ext cx="11430000" cy="4114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453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System correctly flagged 7 of 10 past failures as RED — these trucks would have been inspected before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1 in-service truck (VIN3_NF) identified as high priority — actionable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 WE CANNOT DO YET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Transparent assessment of current system boundaries</a:t>
            </a:r>
          </a:p>
        </p:txBody>
      </p:sp>
      <p:pic>
        <p:nvPicPr>
          <p:cNvPr id="5" name="Picture 4" descr="effect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40080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051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HONEST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173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•  50% of failures are physically unwarnable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Bearing seizure, winding open-circuit, and sudden diode bridge failure produce no voltage precursor</a:t>
            </a:r>
          </a:p>
          <a:p>
            <a:pPr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•  Per-truck precise RUL is not yet accurate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Failures cluster so tightly that a simple fleet-average (601 days) outperforms individual prediction</a:t>
            </a:r>
          </a:p>
          <a:p>
            <a:pPr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•  Early warning is rare, not universal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GED2 alert fired on 1 of 10 past failures — high value when it fires, but it won't fire for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DATA GAPS LIMITING ACCURACY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06908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572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on System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to Close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Only 10 failure examples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Wide statistical uncertainty on all predictions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Grow failure dataset as fleet ages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 failures have telemetry dropout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30% of failures cannot be fully analyzed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Improve end-of-life data collection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vibration/temperature sensors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Cannot detect bearing or mechanical failures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Pilot vibration sensor on 5 trucks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Single fleet / single route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Results may not generalize to other conditions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Validate on a second fleet/route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alternator-internal diagnostics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Field current, brush wear not directly measurable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Evaluate OBD-II deep-diagnostic 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5989320"/>
            <a:ext cx="11430000" cy="4114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2453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These are physics and data-size constraints, not model deficiencies — system performs well within what the data allows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Growing the failure dataset is the single highest-leverage improvement for overall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Priority actions for fleet operations and system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E8C45"/>
                </a:solidFill>
                <a:latin typeface="Calibri"/>
              </a:defRPr>
            </a:pPr>
            <a:r>
              <a:t>IMMEDIATE ACTIONS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5303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6304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Inspect VIN3_NF (high-risk truck)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Fleet Ops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This week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Plan fleet alternator replacement at 578–653 days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Maintenance Planning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This month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Enable GED2 real-time alert in fleet dashboard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Engineering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Q3 2026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A5CB0"/>
                </a:solidFill>
                <a:latin typeface="Calibri"/>
              </a:defRPr>
            </a:pPr>
            <a:r>
              <a:t>SYSTEM IMPROVEMENT ROADMAP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17320"/>
          <a:ext cx="5303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Initiative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Impact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Starter motor pipeline (34 trucks)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Second component covered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Deploy fleet dashboard + API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Operational readiness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Grow alternator failure dataset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Sharper predictions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Improve end-of-life telemetry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Resolve 30% data gaps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Pilot vibration sensors (5 trucks)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Detect mechanical failures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Cross-fleet validation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Confirm generalization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383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WHAT 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Near-Term (Q3 2026)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Fleet-wide alternator replacement follows data-driven window, not arbitrary km intervals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VIN3_NF inspected and either cleared or replaced proactively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GED2 alert active in fleet monitoring dashboard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Starter motor system built using same proven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Medium-Term (Q4 2026 – 2027)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Failure dataset grows beyond n=25, narrowing prediction uncertainty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Vibration sensor pilot reveals mechanical failure modes invisible to voltage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Second fleet validates whether 578–653 day window generalizes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Combined alternator + starter motor + battery risk score per truck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11430000" cy="4114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2453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The system delivers value today: inspect VIN3_NF, schedule fleet replacement at 578–653 days, enable GED2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B2A4A"/>
                </a:solidFill>
                <a:latin typeface="Calibri"/>
              </a:defRPr>
            </a:pPr>
            <a:r>
              <a:t>•  Growing the failure dataset and adding vibration sensors are the two highest-leverage improvements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