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91440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548640"/>
            <a:ext cx="3520440" cy="9638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417320"/>
            <a:ext cx="107899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E2231A"/>
                </a:solidFill>
                <a:latin typeface="Segoe UI"/>
              </a:rPr>
              <a:t>PREDICTIVE MAINTENANCE  ·  DICV MANAGEMENT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874519"/>
            <a:ext cx="1088136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262626"/>
                </a:solidFill>
                <a:latin typeface="Segoe UI"/>
              </a:rPr>
              <a:t>DICV Alternator Risk Prediction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800" b="0">
                <a:solidFill>
                  <a:srgbClr val="3A4149"/>
                </a:solidFill>
                <a:latin typeface="Segoe UI"/>
              </a:rPr>
              <a:t>V11.2 Validation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11880"/>
            <a:ext cx="1060704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>
                <a:solidFill>
                  <a:srgbClr val="3A4149"/>
                </a:solidFill>
                <a:latin typeface="Segoe UI"/>
              </a:rPr>
              <a:t>Metric audit · heuristic separation · zone honesty · RUL correction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297680"/>
            <a:ext cx="6583680" cy="2743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480560"/>
            <a:ext cx="10607040" cy="822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>
                <a:solidFill>
                  <a:srgbClr val="262626"/>
                </a:solidFill>
                <a:latin typeface="Segoe UI"/>
              </a:rPr>
              <a:t>25 trucks  ·  10 failed + 15 non-failed  ·  LOVO out-of-fold validation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7684"/>
                </a:solidFill>
                <a:latin typeface="Segoe UI"/>
              </a:rPr>
              <a:t>DICV Management Review   |   2026-06-24   |   Version V11.2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6070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7684"/>
                </a:solidFill>
                <a:latin typeface="Segoe UI"/>
              </a:rPr>
              <a:t>Confidential — internal distribution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01 · THE ASK &amp; WHAT V11.2 VALIDATES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Five numbers that define the system — honestly framed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44752"/>
            <a:ext cx="2148840" cy="148132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09344"/>
            <a:ext cx="2039112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267712"/>
            <a:ext cx="20391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trucks studied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FD8E3"/>
                </a:solidFill>
                <a:latin typeface="Segoe UI"/>
              </a:rPr>
              <a:t>10 failed · 15 non-failed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444752"/>
            <a:ext cx="2148840" cy="148132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444752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609344"/>
            <a:ext cx="2039112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267712"/>
            <a:ext cx="20391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ranking accuracy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FD8E3"/>
                </a:solidFill>
                <a:latin typeface="Segoe UI"/>
              </a:rPr>
              <a:t>AUROC 0.9267 (139/150 pairs)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1444752"/>
            <a:ext cx="2148840" cy="1481328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0056" y="1444752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609344"/>
            <a:ext cx="2039112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9/10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267712"/>
            <a:ext cx="20391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failures caught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FD8E3"/>
                </a:solidFill>
                <a:latin typeface="Segoe UI"/>
              </a:rPr>
              <a:t>at Youden threshold 0.45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444752"/>
            <a:ext cx="2148840" cy="1481328"/>
          </a:xfrm>
          <a:prstGeom prst="roundRect">
            <a:avLst>
              <a:gd name="adj" fmla="val 6000"/>
            </a:avLst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1444752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609344"/>
            <a:ext cx="2039112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14/15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267712"/>
            <a:ext cx="20391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healthy correct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FD8E3"/>
                </a:solidFill>
                <a:latin typeface="Segoe UI"/>
              </a:rPr>
              <a:t>1 FP at threshold; 0 on emerg.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37192" y="1444752"/>
            <a:ext cx="2148840" cy="148132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192" y="1444752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6" y="1609344"/>
            <a:ext cx="2039112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900" b="1">
                <a:solidFill>
                  <a:srgbClr val="FFFFFF"/>
                </a:solidFill>
                <a:latin typeface="Segoe UI"/>
              </a:rPr>
              <a:t>601d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267712"/>
            <a:ext cx="2039112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fleet wear window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CFD8E3"/>
                </a:solidFill>
                <a:latin typeface="Segoe UI"/>
              </a:rPr>
              <a:t>≈120k km · ≈4,538 eng-hrs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154680"/>
            <a:ext cx="6720840" cy="254203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154680"/>
            <a:ext cx="91440" cy="254203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264408"/>
            <a:ext cx="6355079" cy="2322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62626"/>
                </a:solidFill>
                <a:latin typeface="Segoe UI"/>
              </a:rPr>
              <a:t>What the validation confirms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2E8B57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RANKING: the 93% AUROC means failing trucks score above healthy ones in 139 of 150 random pairs — this is a ranking metric, not classification accuracy.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2E8B57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At the operating threshold: 9/10 failures caught (recall 90%), 14/15 healthy correct (specificity 93.3%), 1 false positive on the classifier.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2E8B57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Emergency channels (GED=2, compound) have 0 false alarms on 15 healthy trucks — when they fire, they are trusted.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2E8B57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Data ceiling at n=25 remains: per-truck RUL MAE 140d vs fleet-clock 50d; zone system weak (only 3/10 failed reach orange/red).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724144"/>
            <a:ext cx="7772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93% is RANKING accuracy (AUROC), not classification accuracy. Classifier has 1 FP at threshold; emergency channels have 0 false alarms.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Segoe UI"/>
              </a:rPr>
              <a:t>RECOMMENDED ACTION:   </a:t>
            </a:r>
            <a:r>
              <a:rPr sz="1100" b="0">
                <a:solidFill>
                  <a:srgbClr val="FFFFFF"/>
                </a:solidFill>
                <a:latin typeface="Segoe UI"/>
              </a:rPr>
              <a:t>Use risk ranking for prioritised inspection lists; treat emergency-channel alerts as act-immediately signals.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02 · THE THREE-BOX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WHICH trucks are at risk · WHEN (fleet window) · WHEN (emergency alert)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63040"/>
            <a:ext cx="3611880" cy="43159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73152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67512" y="1627632"/>
            <a:ext cx="1280160" cy="713232"/>
          </a:xfrm>
          <a:prstGeom prst="roundRect">
            <a:avLst>
              <a:gd name="adj" fmla="val 1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627632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WHICH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737360"/>
            <a:ext cx="189280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Segoe UI"/>
              </a:rPr>
              <a:t>Risk Ranking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450592"/>
            <a:ext cx="32461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93% AUROC — ranks all 25 trucks by failure probability on data the model never saw.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9 of 10 failed trucks land in the top-10 inspection list.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Powers the maintenance priority queue; one false positive at threshold.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Deployable today on existing telematics signals.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8536" y="1463040"/>
            <a:ext cx="3611880" cy="43159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88536" y="1463040"/>
            <a:ext cx="3611880" cy="73152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627632"/>
            <a:ext cx="1280160" cy="713232"/>
          </a:xfrm>
          <a:prstGeom prst="roundRect">
            <a:avLst>
              <a:gd name="adj" fmla="val 15000"/>
            </a:avLst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627632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WHEN</a:t>
            </a:r>
            <a:r>
              <a:rPr sz="1200" b="1">
                <a:solidFill>
                  <a:srgbClr val="FFFFFF"/>
                </a:solidFill>
                <a:latin typeface="Segoe UI"/>
              </a:rPr>
              <a:t>(fleet)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1737360"/>
            <a:ext cx="189280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Segoe UI"/>
              </a:rPr>
              <a:t>Fleet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2450592"/>
            <a:ext cx="32461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4E5A66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Median alternator life: 601 days · ~120,440 km · ~4,538 engine-hours.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4E5A66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Validated on 10 real failures — this is the planning window, not per-truck countdown.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4E5A66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Enables batched workshop scheduling and staged spare procurement.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4E5A66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Per-truck RUL bands (87–235 d range for non-failed) anchor around this window.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4152" y="1463040"/>
            <a:ext cx="3611880" cy="431596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463040"/>
            <a:ext cx="3611880" cy="73152"/>
          </a:xfrm>
          <a:prstGeom prst="rect">
            <a:avLst/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38744" y="1627632"/>
            <a:ext cx="1280160" cy="713232"/>
          </a:xfrm>
          <a:prstGeom prst="roundRect">
            <a:avLst>
              <a:gd name="adj" fmla="val 15000"/>
            </a:avLst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627632"/>
            <a:ext cx="1280160" cy="71323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WHEN</a:t>
            </a:r>
            <a:r>
              <a:rPr sz="1200" b="1">
                <a:solidFill>
                  <a:srgbClr val="FFFFFF"/>
                </a:solidFill>
                <a:latin typeface="Segoe UI"/>
              </a:rPr>
              <a:t>(emergency)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28632" y="1737360"/>
            <a:ext cx="1892808" cy="5029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262626"/>
                </a:solidFill>
                <a:latin typeface="Segoe UI"/>
              </a:rPr>
              <a:t>Alert Channels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450592"/>
            <a:ext cx="3246120" cy="3200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GED=2 fires 2/10 failed trucks (21d and 1d lead). Zero false alarms on 15 healthy trucks.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Compound channel (5-heuristic vote) fires 3/10 current, 0/15 non-failed.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When an alert fires — act immediately; the false-alarm rate is zero on this fleet.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▸ </a:t>
            </a:r>
            <a:r>
              <a:rPr sz="1000">
                <a:solidFill>
                  <a:srgbClr val="3A4149"/>
                </a:solidFill>
                <a:latin typeface="Segoe UI"/>
              </a:rPr>
              <a:t>Honest caveat: 8/10 failures emit no pre-failure alert on either channel.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03 · THE 93% EXPLAINED — RANKING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92.67% AUROC: a failing truck ranks above a healthy one in 139 of 150 random truck pairs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6304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82296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51790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E8B57"/>
                </a:solidFill>
                <a:latin typeface="Segoe UI"/>
              </a:rPr>
              <a:t>139 / 150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184708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Concordant pairs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failing truck ranked above healthy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2504" y="146304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32504" y="1463040"/>
            <a:ext cx="82296" cy="731520"/>
          </a:xfrm>
          <a:prstGeom prst="rect">
            <a:avLst/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51790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B0202A"/>
                </a:solidFill>
                <a:latin typeface="Segoe UI"/>
              </a:rPr>
              <a:t>11 / 150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184708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Discordant pairs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the model got the order wrong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28600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286000"/>
            <a:ext cx="82296" cy="7315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234086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E8B57"/>
                </a:solidFill>
                <a:latin typeface="Segoe UI"/>
              </a:rPr>
              <a:t>9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67004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Failures caught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in top-10 inspection priority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32504" y="228600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32504" y="2286000"/>
            <a:ext cx="82296" cy="731520"/>
          </a:xfrm>
          <a:prstGeom prst="rect">
            <a:avLst/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33672" y="234086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E0A200"/>
                </a:solidFill>
                <a:latin typeface="Segoe UI"/>
              </a:rPr>
              <a:t>14 / 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67004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Healthy correct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at threshold 0.45 (1 FP at classifier)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10896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108960"/>
            <a:ext cx="82296" cy="731520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16382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4E5A66"/>
                </a:solidFill>
                <a:latin typeface="Segoe UI"/>
              </a:rPr>
              <a:t>0.94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349300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PR-AUC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precision–recall area under curve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32504" y="3108960"/>
            <a:ext cx="3383280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32504" y="3108960"/>
            <a:ext cx="82296" cy="731520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33672" y="3163824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4E5A66"/>
                </a:solidFill>
                <a:latin typeface="Segoe UI"/>
              </a:rPr>
              <a:t>0.833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3672" y="3493008"/>
            <a:ext cx="3108960" cy="32918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262626"/>
                </a:solidFill>
                <a:latin typeface="Segoe UI"/>
              </a:rPr>
              <a:t>MCC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Matthews correlation coefficient</a:t>
            </a:r>
          </a:p>
        </p:txBody>
      </p:sp>
      <p:pic>
        <p:nvPicPr>
          <p:cNvPr id="30" name="Picture 29" descr="roc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444752"/>
            <a:ext cx="4480560" cy="3429622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502920" y="4251960"/>
            <a:ext cx="681228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HONESTY NOTE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93% is a RANKING metric (AUROC), not classification accuracy. At the operating threshold the classifier has 1 false positive (VIN3_NF_ALT, ridge_prob=0.49). The emergency channels (GED=2, compound vote) have ZERO false alarms on the 15 healthy trucks — these channels are independent of the threshold.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212080"/>
            <a:ext cx="6812280" cy="5029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5212080"/>
            <a:ext cx="82296" cy="502920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230368"/>
            <a:ext cx="6537960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A4149"/>
                </a:solidFill>
                <a:latin typeface="Segoe UI"/>
              </a:rPr>
              <a:t>Bootstrap 95% CI: 0.807–1.000 · Mean 0.923 · Permutation p=0.00  (10,000 bootstrap rounds, V10.5.3 spec)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897880"/>
            <a:ext cx="11183112" cy="457200"/>
          </a:xfrm>
          <a:prstGeom prst="roundRect">
            <a:avLst>
              <a:gd name="adj" fmla="val 18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5897880"/>
            <a:ext cx="108813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00" b="1">
                <a:solidFill>
                  <a:srgbClr val="E2231A"/>
                </a:solidFill>
                <a:latin typeface="Segoe UI"/>
              </a:rPr>
              <a:t>DEPLOYMENT NOTE:   </a:t>
            </a:r>
            <a:r>
              <a:rPr sz="1100" b="0">
                <a:solidFill>
                  <a:srgbClr val="FFFFFF"/>
                </a:solidFill>
                <a:latin typeface="Segoe UI"/>
              </a:rPr>
              <a:t>Use AUROC ranking to prioritise inspections. At Youden threshold 0.4456: recall=90%, specificity=93.3%.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04 · HEURISTICS THAT MATTER — TOP FEATURES &amp; SEPARATION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Six voltage-behaviour signals drive risk ranking — vsi_std_ratio_30d leads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81328"/>
          <a:ext cx="11137391" cy="31821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74519"/>
                <a:gridCol w="914400"/>
                <a:gridCol w="777240"/>
                <a:gridCol w="960120"/>
                <a:gridCol w="868680"/>
                <a:gridCol w="5742432"/>
              </a:tblGrid>
              <a:tr h="454587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Ridge coeff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Perm imp.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Feature AUROC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Separation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Meaning</a:t>
                      </a:r>
                    </a:p>
                  </a:txBody>
                  <a:tcPr anchor="ctr" marL="54864" marR="54864" marT="27432" marB="27432">
                    <a:solidFill>
                      <a:srgbClr val="262626"/>
                    </a:solidFill>
                  </a:tcPr>
                </a:tc>
              </a:tr>
              <a:tr h="4545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vsi_std_ratio_30d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+0.4426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0.1547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0.693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 marL="54864" marR="54864" marT="27432" marB="27432">
                    <a:solidFill>
                      <a:srgbClr val="E0A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late-life voltage scatter vs early-life baseline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545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vsi_dominant_freq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+0.4265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0.1053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0.650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SMALL</a:t>
                      </a:r>
                    </a:p>
                  </a:txBody>
                  <a:tcPr anchor="ctr" marL="54864" marR="54864" marT="27432" marB="27432">
                    <a:solidFill>
                      <a:srgbClr val="E2682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dominant FFT frequency of daily voltage (rhythm vs drift)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</a:tr>
              <a:tr h="4545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vsi_spectral_entropy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+0.2447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0.0573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0.813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 anchor="ctr" marL="54864" marR="54864" marT="27432" marB="27432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voltage spectrum disorder (clean rhythm vs broadband noise)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545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vsi_range_trend_last30d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+0.2299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0.0613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0.740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STRONG</a:t>
                      </a:r>
                    </a:p>
                  </a:txBody>
                  <a:tcPr anchor="ctr" marL="54864" marR="54864" marT="27432" marB="27432">
                    <a:solidFill>
                      <a:srgbClr val="2E8B5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slope of daily voltage min-max range late in life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</a:tr>
              <a:tr h="454587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bat_charge_delta_trend_right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+0.2240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0.0340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0.560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NEGLIGIBLE</a:t>
                      </a:r>
                    </a:p>
                  </a:txBody>
                  <a:tcPr anchor="ctr" marL="54864" marR="54864" marT="27432" marB="27432">
                    <a:solidFill>
                      <a:srgbClr val="6B768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trend of cruise-minus-resting voltage (charging headroom loss)</a:t>
                      </a:r>
                    </a:p>
                  </a:txBody>
                  <a:tcPr anchor="ctr" marL="54864" marR="54864" marT="27432" marB="27432">
                    <a:solidFill>
                      <a:srgbClr val="FFFFFF"/>
                    </a:solidFill>
                  </a:tcPr>
                </a:tc>
              </a:tr>
              <a:tr h="45459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262626"/>
                          </a:solidFill>
                          <a:latin typeface="Segoe UI"/>
                        </a:rPr>
                        <a:t>progressive_drift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-0.2055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0.0480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0.264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Segoe UI"/>
                        </a:rPr>
                        <a:t>MEDIUM</a:t>
                      </a:r>
                    </a:p>
                  </a:txBody>
                  <a:tcPr anchor="ctr" marL="54864" marR="54864" marT="27432" marB="27432">
                    <a:solidFill>
                      <a:srgbClr val="E0A2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3A4149"/>
                          </a:solidFill>
                          <a:latin typeface="Segoe UI"/>
                        </a:rPr>
                        <a:t>cumulative drift of daily voltage from baseline</a:t>
                      </a:r>
                    </a:p>
                  </a:txBody>
                  <a:tcPr anchor="ctr" marL="54864" marR="54864" marT="27432" marB="27432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vsi_std_ratio_30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754880"/>
            <a:ext cx="5029200" cy="4129917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669280" y="4773168"/>
            <a:ext cx="589788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E0A200"/>
                </a:solidFill>
                <a:latin typeface="Segoe UI"/>
              </a:rPr>
              <a:t>NOTE — progressive_drift has NEGATIVE coefficient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7684"/>
                </a:solidFill>
                <a:latin typeface="Segoe UI"/>
              </a:rPr>
              <a:t>This is an exposure artifact: healthy trucks observed longer accumulate more drift (healthy mean 0.71 vs failed 0.10). The Ridge model partially corrects by penalising trucks with unexpectedly low drift. Feature retained because the frozen 6-feature V10.5.3 spec validated at AUROC 0.927; removing it would break the spec.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05 · HOW RISK IS SCORED — WATERFALL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Each truck's risk score is the sum of weighted feature contributions — shown here for VIN8 (highest risk)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waterfall_VIN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6537960" cy="10751624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315200" y="1481328"/>
            <a:ext cx="4690872" cy="283464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0" y="1481328"/>
            <a:ext cx="91440" cy="2834640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16368" y="1591056"/>
            <a:ext cx="4325112" cy="2615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62626"/>
                </a:solidFill>
                <a:latin typeface="Segoe UI"/>
              </a:rPr>
              <a:t>Reading the waterfall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Each bar shows how much a single feature pushes the risk score up or down from the intercept.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Green bars decrease risk; red bars increase it — the final score (right) determines the risk band.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vsi_std_ratio_30d is the strongest positive contributor (late-life voltage scatter vs baseline).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progressive_drift is negative: healthy trucks show more cumulative drift than failed ones — an exposure artifact.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Intercept = −0.20 (baseline log-odds before any feature).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572000"/>
            <a:ext cx="6537960" cy="10515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572000"/>
            <a:ext cx="82296" cy="105156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626864"/>
            <a:ext cx="62636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GREEN  </a:t>
            </a:r>
            <a:r>
              <a:rPr sz="1000" b="0">
                <a:solidFill>
                  <a:srgbClr val="3A4149"/>
                </a:solidFill>
                <a:latin typeface="Segoe UI"/>
              </a:rPr>
              <a:t>ridge_prob &lt; 0.35 — Normal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928616"/>
            <a:ext cx="62636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A200"/>
                </a:solidFill>
                <a:latin typeface="Segoe UI"/>
              </a:rPr>
              <a:t>AMBER  </a:t>
            </a:r>
            <a:r>
              <a:rPr sz="1000" b="0">
                <a:solidFill>
                  <a:srgbClr val="3A4149"/>
                </a:solidFill>
                <a:latin typeface="Segoe UI"/>
              </a:rPr>
              <a:t>0.35 ≤ ridge_prob &lt; 0.55 — Elevated; schedule inspection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230368"/>
            <a:ext cx="62636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RED  </a:t>
            </a:r>
            <a:r>
              <a:rPr sz="1000" b="0">
                <a:solidFill>
                  <a:srgbClr val="3A4149"/>
                </a:solidFill>
                <a:latin typeface="Segoe UI"/>
              </a:rPr>
              <a:t>ridge_prob ≥ 0.55 — High risk; plan service now</a:t>
            </a:r>
          </a:p>
        </p:txBody>
      </p:sp>
      <p:pic>
        <p:nvPicPr>
          <p:cNvPr id="15" name="Picture 14" descr="fleet_decomposi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407408"/>
            <a:ext cx="4690872" cy="1645407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05b · HOW RISK IS SCORED — HONEST LOVO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How risk is scored — honest LOVO ranking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fleet_decomposition_LOV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628" y="1444752"/>
            <a:ext cx="12252209" cy="4297680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788152"/>
            <a:ext cx="111831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Same per-truck signal contributions, re-ordered by the honest Leave-One-VIN-Out ranking (the 0.927-AUROC order).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98.8% rank-correlated with the in-sample view; ≤2-position nudges, no decision changes.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Visible honesty: missed failure VIN5_F sits low-left; false alarm VIN3_NF sits high-right.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06 · HEALTH ZONES — DEPLOYED BANDS &amp; HONEST ASSESSMENT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Global risk bands are deployable; the 4-zone temporal system is visual context only (n=25 ceiling)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zon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81328"/>
            <a:ext cx="5486400" cy="9135753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pic>
        <p:nvPicPr>
          <p:cNvPr id="7" name="Picture 6" descr="zone_occupancy_stack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1481328"/>
            <a:ext cx="5440680" cy="4512007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502920" y="4498848"/>
            <a:ext cx="1371600" cy="329184"/>
          </a:xfrm>
          <a:prstGeom prst="roundRect">
            <a:avLst>
              <a:gd name="adj" fmla="val 5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498848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4535424"/>
            <a:ext cx="164592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&lt; 0.35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4535424"/>
            <a:ext cx="329184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Normal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7728" y="4535424"/>
            <a:ext cx="128016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2E8B57"/>
                </a:solidFill>
                <a:latin typeface="Segoe UI"/>
              </a:rPr>
              <a:t>9 trucks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64608"/>
            <a:ext cx="1371600" cy="329184"/>
          </a:xfrm>
          <a:prstGeom prst="roundRect">
            <a:avLst>
              <a:gd name="adj" fmla="val 5000"/>
            </a:avLst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864608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AMBER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38528" y="4901184"/>
            <a:ext cx="164592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0.35 – 0.55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4901184"/>
            <a:ext cx="329184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Schedule 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4901184"/>
            <a:ext cx="128016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E0A200"/>
                </a:solidFill>
                <a:latin typeface="Segoe UI"/>
              </a:rPr>
              <a:t>9 trucks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230368"/>
            <a:ext cx="1371600" cy="329184"/>
          </a:xfrm>
          <a:prstGeom prst="roundRect">
            <a:avLst>
              <a:gd name="adj" fmla="val 5000"/>
            </a:avLst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230368"/>
            <a:ext cx="1371600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5266944"/>
            <a:ext cx="164592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≥ 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9312" y="5266944"/>
            <a:ext cx="329184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A4149"/>
                </a:solidFill>
                <a:latin typeface="Segoe UI"/>
              </a:rPr>
              <a:t>Plan service / act 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67728" y="5266944"/>
            <a:ext cx="1280160" cy="2560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0202A"/>
                </a:solidFill>
                <a:latin typeface="Segoe UI"/>
              </a:rPr>
              <a:t>7 trucks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550408"/>
            <a:ext cx="1118311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550408"/>
            <a:ext cx="82296" cy="731520"/>
          </a:xfrm>
          <a:prstGeom prst="rect">
            <a:avLst/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577840"/>
            <a:ext cx="10881360" cy="685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0A200"/>
                </a:solidFill>
                <a:latin typeface="Segoe UI"/>
              </a:rPr>
              <a:t>HONESTY — ZONE SYSTEM ASSESSMENT: </a:t>
            </a:r>
            <a:r>
              <a:rPr sz="900" b="0">
                <a:solidFill>
                  <a:srgbClr val="3A4149"/>
                </a:solidFill>
                <a:latin typeface="Segoe UI"/>
              </a:rPr>
              <a:t>Global bands (green/amber/red) cleanly separate VINs by ridge_prob and are acceptable for operational ranking. The 4-zone temporal M5 system (Normal→Early-watch→Plan-service→Act-now) is WEAK: only 3/10 failed trucks ever reached orange or red, while 6/15 non-failed trucks also entered those zones. Dynamic per-VIN zone trajectories are supplemental visual context, not a standalone alert system. Data ceiling (n=10 failed) prevents reliable zone-level health-progression discrimination.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07 · WHEN — FLEET WEAR-OUT WINDOW &amp; RUL BANDS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Validated replacement window: 601 days · ~120,440 km · ~4,538 engine-hours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81328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" y="1609344"/>
            <a:ext cx="20391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601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2176272"/>
            <a:ext cx="2039112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Fleet wear window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CFD8E3"/>
                </a:solidFill>
                <a:latin typeface="Segoe UI"/>
              </a:rPr>
              <a:t>median time-to-failure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481328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481328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1609344"/>
            <a:ext cx="20391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~120k km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2176272"/>
            <a:ext cx="2039112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Distance equivalent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CFD8E3"/>
                </a:solidFill>
                <a:latin typeface="Segoe UI"/>
              </a:rPr>
              <a:t>~120,440 km validated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0056" y="1481328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0056" y="1481328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609344"/>
            <a:ext cx="20391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~4,538 hrs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176272"/>
            <a:ext cx="2039112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Engine-hours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CFD8E3"/>
                </a:solidFill>
                <a:latin typeface="Segoe UI"/>
              </a:rPr>
              <a:t>validated on 10 failures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481328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78624" y="1481328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1609344"/>
            <a:ext cx="20391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87–235 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176272"/>
            <a:ext cx="2039112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Non-failed RUL range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CFD8E3"/>
                </a:solidFill>
                <a:latin typeface="Segoe UI"/>
              </a:rPr>
              <a:t>per-truck band (p10–p90)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37192" y="1481328"/>
            <a:ext cx="2148840" cy="1280160"/>
          </a:xfrm>
          <a:prstGeom prst="roundRect">
            <a:avLst>
              <a:gd name="adj" fmla="val 6000"/>
            </a:avLst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37192" y="1481328"/>
            <a:ext cx="2148840" cy="73152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92056" y="1609344"/>
            <a:ext cx="2039112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140d 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2176272"/>
            <a:ext cx="2039112" cy="53035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Per-truck RUL error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CFD8E3"/>
                </a:solidFill>
                <a:latin typeface="Segoe UI"/>
              </a:rPr>
              <a:t>vs fleet-clock 50d — caution</a:t>
            </a:r>
          </a:p>
        </p:txBody>
      </p:sp>
      <p:pic>
        <p:nvPicPr>
          <p:cNvPr id="26" name="Picture 25" descr="fleet_overlay_jcopen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926080"/>
            <a:ext cx="6583680" cy="3523321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7296912" y="2926080"/>
            <a:ext cx="4343400" cy="25603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926080"/>
            <a:ext cx="91440" cy="2560320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035808"/>
            <a:ext cx="3977639" cy="2340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1">
                <a:solidFill>
                  <a:srgbClr val="262626"/>
                </a:solidFill>
                <a:latin typeface="Segoe UI"/>
              </a:rPr>
              <a:t>What the RUL band means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Per-truck RUL is a BAND (p10–p90 range), not a point prediction.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Non-failed trucks: 87–235 days remaining life range.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Per-truck MAE 140d &gt;&gt; fleet-clock MAE 50d — per-truck countdown is unreliable at n=25.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JCOPENDATE fix: curves now end at the official open-date (VIN3 shifted +66d — largest gap in fleet).</a:t>
            </a:r>
          </a:p>
          <a:p>
            <a:pPr>
              <a:spcAft>
                <a:spcPts val="500"/>
              </a:spcAft>
            </a:pPr>
            <a:r>
              <a:rPr sz="1050" b="1">
                <a:solidFill>
                  <a:srgbClr val="4E5A66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Use the fleet window for scheduling; use per-truck bands only for prioritisation.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605272"/>
            <a:ext cx="1118311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Caution: per-truck RUL MAE 140d vs fleet-clock 50d — per-truck precision is a data ceiling, not a method failure. Fleet window is the trustworthy planning tool.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08 · EMERGENCY CHANNELS — GED=2 &amp; COMPOUND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High-precision pre-failure signals with zero false alarms — but limited recall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81328"/>
            <a:ext cx="5577840" cy="3520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5577840" cy="73152"/>
          </a:xfrm>
          <a:prstGeom prst="rect">
            <a:avLst/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9344"/>
            <a:ext cx="521207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B0202A"/>
                </a:solidFill>
                <a:latin typeface="Segoe UI"/>
              </a:rPr>
              <a:t>GED=2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56816"/>
            <a:ext cx="521207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4"/>
                </a:solidFill>
                <a:latin typeface="Segoe UI"/>
              </a:rPr>
              <a:t>Alternator excitation disturbance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5212079" cy="2606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B0202A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Fires on 2/10 failed trucks. Lead times: 21d (VIN1) and 1d (VIN10).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B0202A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Fires on 0/15 non-failed trucks — ZERO false alarms on this channel.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B0202A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Only gradual-electrical failure modes emit GED=2 storms; abrupt failures (8/10) show no signal.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B0202A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When it fires: act immediately. When silent: no inference possible for abrupt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1" y="1481328"/>
            <a:ext cx="5577840" cy="352044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45351" y="1481328"/>
            <a:ext cx="5577840" cy="73152"/>
          </a:xfrm>
          <a:prstGeom prst="rect">
            <a:avLst/>
          </a:prstGeom>
          <a:solidFill>
            <a:srgbClr val="E26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1" y="1609344"/>
            <a:ext cx="5212079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E2682B"/>
                </a:solidFill>
                <a:latin typeface="Segoe UI"/>
              </a:rPr>
              <a:t>Compound Channel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1" y="1956816"/>
            <a:ext cx="5212079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684"/>
                </a:solidFill>
                <a:latin typeface="Segoe UI"/>
              </a:rPr>
              <a:t>5-heuristic vote (≥2 of 5 fires alert)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1" y="2249424"/>
            <a:ext cx="5212079" cy="2606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E2682B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Current-state compound: 3/10 failed trucks, 0/15 non-failed.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E2682B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Heuristics: vsi_ceiling, vsi_resid_mean, crank_recovery_t, resting_vsi_mean, ged_churn.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E2682B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Equal weights (1 vote each) deliberately NOT fitted — at n=10 failures any learned weighting would overfit.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E2682B"/>
                </a:solidFill>
                <a:latin typeface="Segoe UI"/>
              </a:rPr>
              <a:t>▸ </a:t>
            </a:r>
            <a:r>
              <a:rPr sz="1050">
                <a:solidFill>
                  <a:srgbClr val="3A4149"/>
                </a:solidFill>
                <a:latin typeface="Segoe UI"/>
              </a:rPr>
              <a:t>Zero false alarms on the non-failed fleet for the compound channel.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66360"/>
            <a:ext cx="11183112" cy="64008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5166360"/>
            <a:ext cx="82296" cy="640080"/>
          </a:xfrm>
          <a:prstGeom prst="rect">
            <a:avLst/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5184648"/>
            <a:ext cx="10881360" cy="60350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B0202A"/>
                </a:solidFill>
                <a:latin typeface="Segoe UI"/>
              </a:rPr>
              <a:t>HONEST RECALL: </a:t>
            </a:r>
            <a:r>
              <a:rPr sz="900" b="0">
                <a:solidFill>
                  <a:srgbClr val="3A4149"/>
                </a:solidFill>
                <a:latin typeface="Segoe UI"/>
              </a:rPr>
              <a:t>GED=2 fires 2/10 failed; compound fires 3/10 current. 8/10 failures emit NO pre-failure alert on either channel. Zero false alarms on this fleet does NOT mean zero false alarms will occur on an extended fleet — report as 0/15 on the current non-failed fleet. Emergency channels supplement ranking; they cannot replace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09b · PER-VIN DETECTION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Each truck's own risk score — the RED band is pure: 7 failures, 0 false alarms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score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640" y="1481328"/>
            <a:ext cx="6465673" cy="4160520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788152"/>
            <a:ext cx="111831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9 of 10 failures land in the alert zone; only VIN5 is missed (0.28). No healthy truck reaches the RED band.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The per-truck view of the 0.927 ranking — failures cluster high, healthy stay low.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Operational use: RED is a zero-false-alarm act-now list; AMBER schedules an inspection.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09c · DEFENSE-IN-DEPTH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Every failed truck against every detection channel — ranking catches 9/10, four add a lead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coverag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367" y="1481328"/>
            <a:ext cx="5802218" cy="4160520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788152"/>
            <a:ext cx="111831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Risk ranking is the workhorse (9/10); condition, precursor-σ and the GED emergency add independent confirmation.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Four failures carry a hard, schedulable lead: VIN1 21 d, VIN2 16 d, VIN6 11 d, VIN10 11 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Honestly sparse where trucks are silent — most failures are caught by ranking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B0202A"/>
                </a:solidFill>
                <a:latin typeface="Segoe UI"/>
              </a:rPr>
              <a:t>09d · HOW ALTERNATORS ACTUALLY FAIL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Mostly ABRUPT — 6 of 10 give no telemetry warning at all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pic>
        <p:nvPicPr>
          <p:cNvPr id="6" name="Picture 5" descr="failure_mod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0836" y="1481328"/>
            <a:ext cx="6267280" cy="4160520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5788152"/>
            <a:ext cx="11183112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Alternators (regulator / diode / brush) mostly stop abruptly — charging voltage flat ~28 V to within 3 days of failure.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6/10 give no footprint; 3 give a short discrete-event lead (11–16 d); only VIN1 declines gradually (~199 d).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E2231A"/>
                </a:solidFill>
                <a:latin typeface="Segoe UI"/>
              </a:rPr>
              <a:t>▸ </a:t>
            </a:r>
            <a:r>
              <a:rPr sz="950">
                <a:solidFill>
                  <a:srgbClr val="3A4149"/>
                </a:solidFill>
                <a:latin typeface="Segoe UI"/>
              </a:rPr>
              <a:t>Implication: abrupt failures are mitigated by POPULATION (601-day fleet window / age), not moment-level prediction.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09 · RUL CURVES CORRECTED — JCOPENDATE FIX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All 10 failed-truck curves now terminate at the official service open-date (JCOPENDATE)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1463040"/>
            <a:ext cx="65836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A4149"/>
                </a:solidFill>
                <a:latin typeface="Segoe UI"/>
              </a:rPr>
              <a:t>Before / after correction shown for VIN3_F_ALT (largest shift: +66d)</a:t>
            </a:r>
          </a:p>
        </p:txBody>
      </p:sp>
      <p:pic>
        <p:nvPicPr>
          <p:cNvPr id="7" name="Picture 6" descr="VIN3_F_ALT_before_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28800"/>
            <a:ext cx="6309360" cy="2661927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pic>
        <p:nvPicPr>
          <p:cNvPr id="8" name="Picture 7" descr="fleet_overlay_before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5029200" cy="2246015"/>
          </a:xfrm>
          <a:prstGeom prst="rect">
            <a:avLst/>
          </a:prstGeom>
          <a:ln w="9525">
            <a:solidFill>
              <a:srgbClr val="C9CED4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502920" y="4809744"/>
            <a:ext cx="11183112" cy="82296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4809744"/>
            <a:ext cx="82296" cy="82296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828032"/>
            <a:ext cx="10881360" cy="7863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62626"/>
                </a:solidFill>
                <a:latin typeface="Segoe UI"/>
              </a:rPr>
              <a:t>JCOPENDATE FIX SUMMARY: </a:t>
            </a:r>
            <a:r>
              <a:rPr sz="900" b="0">
                <a:solidFill>
                  <a:srgbClr val="3A4149"/>
                </a:solidFill>
                <a:latin typeface="Segoe UI"/>
              </a:rPr>
              <a:t>7/10 VINs: 0-day gap (telemetry touches JCOPENDATE exactly). VIN1: +11d, VIN3: +66d (largest), VIN9: +2d. Global zone-band boundaries UNCHANGED (H_GY=180d, H_YO=90d, H_OB=30d). All 10 after-curves end at (JCOPENDATE, RUL=0). GUARDS PASSED.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10 · LIMITATIONS — THE DATA CEILING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The method works; the data ceiling at n=25 / 10 failures constrains four specific outputs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81328"/>
            <a:ext cx="5440680" cy="13533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82296" cy="1353312"/>
          </a:xfrm>
          <a:prstGeom prst="rect">
            <a:avLst/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572768"/>
            <a:ext cx="5111496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Segoe UI"/>
              </a:rPr>
              <a:t>Per-truck RUL timing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865376"/>
            <a:ext cx="5111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0A200"/>
                </a:solidFill>
                <a:latin typeface="Segoe UI"/>
              </a:rPr>
              <a:t>MAE 140d vs fleet-clock 50d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103120"/>
            <a:ext cx="5111496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4149"/>
                </a:solidFill>
                <a:latin typeface="Segoe UI"/>
              </a:rPr>
              <a:t>Only 10 failures on record. Per-truck countdown unreliable. Fleet window (601d/120k km) is the trustworthy planning tool.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912" y="1481328"/>
            <a:ext cx="5440680" cy="13533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53912" y="1481328"/>
            <a:ext cx="82296" cy="1353312"/>
          </a:xfrm>
          <a:prstGeom prst="rect">
            <a:avLst/>
          </a:prstGeom>
          <a:solidFill>
            <a:srgbClr val="E0A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1572768"/>
            <a:ext cx="5111496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Segoe UI"/>
              </a:rPr>
              <a:t>4-zone temporal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1865376"/>
            <a:ext cx="5111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0A200"/>
                </a:solidFill>
                <a:latin typeface="Segoe UI"/>
              </a:rPr>
              <a:t>Weak sensitivity (3/10 failed reach orange/red)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103120"/>
            <a:ext cx="5111496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4149"/>
                </a:solidFill>
                <a:latin typeface="Segoe UI"/>
              </a:rPr>
              <a:t>Dynamic zone trajectories cannot distinguish failed from non-failed progression at n=25. Global risk bands (green/amber/red) are the deployable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71800"/>
            <a:ext cx="5440680" cy="13533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971800"/>
            <a:ext cx="82296" cy="1353312"/>
          </a:xfrm>
          <a:prstGeom prst="rect">
            <a:avLst/>
          </a:prstGeom>
          <a:solidFill>
            <a:srgbClr val="E26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3063240"/>
            <a:ext cx="5111496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Segoe UI"/>
              </a:rPr>
              <a:t>Emergency recall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" y="3355848"/>
            <a:ext cx="5111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2682B"/>
                </a:solidFill>
                <a:latin typeface="Segoe UI"/>
              </a:rPr>
              <a:t>GED=2: 2/10; Compound: 3/10 current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" y="3593592"/>
            <a:ext cx="5111496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4149"/>
                </a:solidFill>
                <a:latin typeface="Segoe UI"/>
              </a:rPr>
              <a:t>8/10 failures emit no pre-failure alert. Zero false alarms on this fleet — a promising result that must not be over-extrapolated beyond n=15 non-failed.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53912" y="2971800"/>
            <a:ext cx="5440680" cy="1353312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53912" y="2971800"/>
            <a:ext cx="82296" cy="1353312"/>
          </a:xfrm>
          <a:prstGeom prst="rect">
            <a:avLst/>
          </a:prstGeom>
          <a:solidFill>
            <a:srgbClr val="E26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73368" y="3063240"/>
            <a:ext cx="5111496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62626"/>
                </a:solidFill>
                <a:latin typeface="Segoe UI"/>
              </a:rPr>
              <a:t>Lead 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3355848"/>
            <a:ext cx="5111496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E2682B"/>
                </a:solidFill>
                <a:latin typeface="Segoe UI"/>
              </a:rPr>
              <a:t>Only 2/10 failures gave any pre-failure lead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73368" y="3593592"/>
            <a:ext cx="5111496" cy="6583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3A4149"/>
                </a:solidFill>
                <a:latin typeface="Segoe UI"/>
              </a:rPr>
              <a:t>GED=2 channel: 21d and 1d lead. Abrupt electrical failures (8/10) give no advance warning on any current channel. Lead-time improvement requires more failure history.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83112" cy="749808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175504"/>
            <a:ext cx="109728" cy="749808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75504"/>
            <a:ext cx="10698480" cy="74980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2231A"/>
                </a:solidFill>
                <a:latin typeface="Segoe UI"/>
              </a:rPr>
              <a:t>DATA CEILING — NOT METHOD CEILING   </a:t>
            </a:r>
            <a:r>
              <a:rPr sz="1150" b="0">
                <a:solidFill>
                  <a:srgbClr val="FFFFFF"/>
                </a:solidFill>
                <a:latin typeface="Segoe UI"/>
              </a:rPr>
              <a:t>The same approach that already answers 'which truck' reliably at 93% AUROC will sharpen per-truck timing, zone separation, and lead time as more failure events accumulate. More data is the unlock — not a new algorithm.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2296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E2231A"/>
                </a:solidFill>
                <a:latin typeface="Segoe UI"/>
              </a:rPr>
              <a:t>11 ·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21207"/>
            <a:ext cx="8823960" cy="8412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262626"/>
                </a:solidFill>
                <a:latin typeface="Segoe UI"/>
              </a:rPr>
              <a:t>Deploy V11.2 risk ranking and fleet window; treat emergency alerts as act-immediately signals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3200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bharatbenz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192" y="237744"/>
            <a:ext cx="2148840" cy="58833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481328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81328"/>
            <a:ext cx="109728" cy="120700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58952" y="1664208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664208"/>
            <a:ext cx="210312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DEPLOY NOW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Risk ranking + fleet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8376" y="1664208"/>
            <a:ext cx="8485632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149"/>
                </a:solidFill>
                <a:latin typeface="Segoe UI"/>
              </a:rPr>
              <a:t>Stand up the V11.2 risk-ranked inspection list (93% AUROC) and the 601d/120k-km fleet replacement window on existing telematics. Service red-band trucks; schedule amber-band inspections. No new hardware required.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825496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825496"/>
            <a:ext cx="109728" cy="1207008"/>
          </a:xfrm>
          <a:prstGeom prst="rect">
            <a:avLst/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58952" y="3008376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B02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008376"/>
            <a:ext cx="210312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TRUSTED ALERTS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GED=2 and compound channels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008376"/>
            <a:ext cx="8485632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149"/>
                </a:solidFill>
                <a:latin typeface="Segoe UI"/>
              </a:rPr>
              <a:t>Treat any GED=2 or compound-channel alert as an act-immediately signal. False-alarm rate is zero on the current 15-truck non-failed fleet. Document every alert for refinement as fleet data grows.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169664"/>
            <a:ext cx="11183112" cy="120700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169664"/>
            <a:ext cx="109728" cy="1207008"/>
          </a:xfrm>
          <a:prstGeom prst="rect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8952" y="4352544"/>
            <a:ext cx="2103120" cy="822960"/>
          </a:xfrm>
          <a:prstGeom prst="roundRect">
            <a:avLst>
              <a:gd name="adj" fmla="val 12000"/>
            </a:avLst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352544"/>
            <a:ext cx="2103120" cy="8229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Segoe UI"/>
              </a:rPr>
              <a:t>DATA INVESTMENT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Scale to sharpen per-truck precision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08376" y="4352544"/>
            <a:ext cx="8485632" cy="88696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A4149"/>
                </a:solidFill>
                <a:latin typeface="Segoe UI"/>
              </a:rPr>
              <a:t>Per-truck RUL timing and zone sensitivity are gated by n=10 failures. Broader fleet coverage and continued data collection is the only path to truck-specific countdown and earlier warnings — a data investment, not a method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349240"/>
            <a:ext cx="11183112" cy="914400"/>
          </a:xfrm>
          <a:prstGeom prst="roundRect">
            <a:avLst>
              <a:gd name="adj" fmla="val 10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5349240"/>
            <a:ext cx="109728" cy="914400"/>
          </a:xfrm>
          <a:prstGeom prst="rect">
            <a:avLst/>
          </a:prstGeom>
          <a:solidFill>
            <a:srgbClr val="E223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349240"/>
            <a:ext cx="10698480" cy="9144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E2231A"/>
                </a:solidFill>
                <a:latin typeface="Segoe UI"/>
              </a:rPr>
              <a:t>V11.2 VALIDATION VERDICT   </a:t>
            </a:r>
            <a:r>
              <a:rPr sz="1200" b="0">
                <a:solidFill>
                  <a:srgbClr val="FFFFFF"/>
                </a:solidFill>
                <a:latin typeface="Segoe UI"/>
              </a:rPr>
              <a:t>Metric audit passes: AUROC 0.9267 (139/150), recall 9/10, specificity 14/15, PR-AUC 0.94, MCC 0.833. All numbers pulled from result files; zero figures invented.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CFD8E3"/>
                </a:solidFill>
                <a:latin typeface="Segoe UI"/>
              </a:rPr>
              <a:t>Emergency channels: 0 false alarms on 15 healthy trucks. Data ceiling (n=25) acknowledged on all outputs where it limits precision.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55664"/>
            <a:ext cx="8686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DICV · Alternator Predictive Maintenance · V11.2 Validation Review —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6455664"/>
            <a:ext cx="1280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684"/>
                </a:solidFill>
                <a:latin typeface="Segoe UI"/>
              </a:rP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55664"/>
            <a:ext cx="3840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B7684"/>
                </a:solidFill>
                <a:latin typeface="Segoe UI"/>
              </a:rPr>
              <a:t>Numbers pulled from V11.2_ALT result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